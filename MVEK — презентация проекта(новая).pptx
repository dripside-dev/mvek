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 rot="5400000">
            <a:off x="7135560" y="1955160"/>
            <a:ext cx="5810400" cy="26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 rot="5400000">
            <a:off x="1801440" y="-596520"/>
            <a:ext cx="5810400" cy="77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D8FF7-37CC-4FA4-AD93-56063EAC6EC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F6C570-7C35-484D-843A-B7890B71D52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572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22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2286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2286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3776E4-FDB9-4952-B8F7-B2814C0968A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56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E13187-611A-4ABC-8977-58E2DDDD22A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572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22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2286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2286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560" y="1681200"/>
            <a:ext cx="518220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572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22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2286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2286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560" y="2505240"/>
            <a:ext cx="518220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E93E42-3DBD-48A6-A6C8-05A60FA2E62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F11C64-3DCD-4465-B825-6BBC0124A1A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1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3994AA-774F-43F1-B774-5C0365E1C81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457200" indent="-431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4064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808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556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4572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22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2286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2286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389957-43DD-465F-B572-0BB0F94AC83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4572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2286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2286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2286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2286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BFB51-0B59-4C0B-97DB-43E664B27A9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A5720C-43CC-4BED-956D-40E2B33944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 rot="5400000">
            <a:off x="3922200" y="-1256760"/>
            <a:ext cx="434988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914400" lvl="1" indent="-3430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371600" lvl="2" indent="-3430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1828800" lvl="3" indent="-34308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286000" lvl="4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743200" lvl="5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200400" lvl="6" indent="-3430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33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64EFAF-9E96-48DD-B91B-5D96B2A5197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600200" y="-1828800"/>
            <a:ext cx="914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2500" lnSpcReduction="19999"/>
          </a:bodyPr>
          <a:p>
            <a:pPr indent="0" algn="ctr">
              <a:buNone/>
            </a:pP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1" descr="mvek_logo.png"/>
          <p:cNvPicPr/>
          <p:nvPr/>
        </p:nvPicPr>
        <p:blipFill>
          <a:blip r:embed="rId1"/>
          <a:stretch/>
        </p:blipFill>
        <p:spPr>
          <a:xfrm>
            <a:off x="3089520" y="540000"/>
            <a:ext cx="5999760" cy="228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1"/>
          <p:cNvSpPr/>
          <p:nvPr/>
        </p:nvSpPr>
        <p:spPr>
          <a:xfrm>
            <a:off x="822960" y="2917440"/>
            <a:ext cx="10542600" cy="27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ru-RU" sz="23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Колледжный рогалик про МВЕК</a:t>
            </a:r>
            <a:endParaRPr lang="ru-RU" sz="2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Учебный проект · </a:t>
            </a: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видеоигра на Python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Команда «Донателло Версаче»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Шкляев Никита Андреевич — капитан, программист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Зыкин Владислав Максимович — программист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Булдаков Никита Иванович — программист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Катранин Платон Александрович — дизайнер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Чупин Кирилл Алексеевич — дизайнер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Лебедева Наталия Игоревна — реклама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Вотякова Анна Александровна — реклама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Атяева Злата Алексеевна — торговое дело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66" name=""/>
          <p:cNvPicPr/>
          <p:nvPr/>
        </p:nvPicPr>
        <p:blipFill>
          <a:blip r:embed="rId2"/>
          <a:stretch/>
        </p:blipFill>
        <p:spPr>
          <a:xfrm>
            <a:off x="180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8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Анализ рынка игр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8" name="Google Shape;90;p 1"/>
          <p:cNvGraphicFramePr/>
          <p:nvPr/>
        </p:nvGraphicFramePr>
        <p:xfrm>
          <a:off x="1265040" y="846000"/>
          <a:ext cx="9661320" cy="5380200"/>
        </p:xfrm>
        <a:graphic>
          <a:graphicData uri="http://schemas.openxmlformats.org/drawingml/2006/table">
            <a:tbl>
              <a:tblPr/>
              <a:tblGrid>
                <a:gridCol w="4794480"/>
                <a:gridCol w="1387800"/>
                <a:gridCol w="1649520"/>
                <a:gridCol w="1829880"/>
              </a:tblGrid>
              <a:tr h="7257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Binding of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Isaac: Rebirth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Hades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Enter the Gungeon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Ссылка на игру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store.steampowered.com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/app/250900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store.steampowered.com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/app/1145360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store.steampowered.com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/app/311690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Название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The Binding of Isaac: Rebirth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Hades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Enter the Gungeon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Стоимость игры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≈ 1075 ₽ 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≈ 1 793 ₽ 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≈ 1075 ₽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Разработчик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Nicalis / Edmund McMillen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Supergiant Games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Dodge Roll / Devolver Digital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Каналы продвижения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Steam, стримеры YouTube/Twitch, Reddit, сарафан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 (ранний доступ), стримеры, пресса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Steam, стримеры, издатель Devolver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Рейтинг игры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Steam: крайне положительные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Steam: крайне положительные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Steam: очень положительные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4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Целевая аудитория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16+, фанаты рогаликов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16+, любители экшена/инди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14+, фанаты bullet-hell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4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Платформа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PC, Switch, PS, Xbox, mobile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PC, Switch, PS, Xbox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PC, Switch, PS, Xbox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Ваш пользовательский опыт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Гениальная реиграбельность и глубина билдов — наш главный ориентир; но тон мрачноватый, мы смягчили его под семейный стиль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Эталон анимации и фидбэка боя; ААА-бюджет нам недоступен — берём узнаваемым сеттингом МВЕК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8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Драйвовый bullet-hell и сочная стрельба; высокий порог входа — мы снизили его автоподбором предметов</a:t>
                      </a:r>
                      <a:endParaRPr lang="ru-RU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TextBox 2"/>
          <p:cNvSpPr/>
          <p:nvPr/>
        </p:nvSpPr>
        <p:spPr>
          <a:xfrm>
            <a:off x="1261800" y="5440680"/>
            <a:ext cx="44974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e8602d"/>
                </a:solidFill>
                <a:effectLst/>
                <a:uFillTx/>
                <a:latin typeface="Arial"/>
                <a:ea typeface="Arial"/>
              </a:rPr>
              <a:t>Вывод: </a:t>
            </a:r>
            <a:r>
              <a:rPr lang="ru-RU" sz="1100" b="0" u="none" strike="noStrike">
                <a:solidFill>
                  <a:srgbClr val="101014"/>
                </a:solidFill>
                <a:effectLst/>
                <a:uFillTx/>
                <a:latin typeface="Arial"/>
                <a:ea typeface="Arial"/>
              </a:rPr>
              <a:t>конкурируем не бюджетом, а узнаваемым сеттингом МВЕК, семейным стилем и низким порогом входа.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1261800" y="5940000"/>
            <a:ext cx="1042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000" b="0" i="1" u="none" strike="noStrike">
                <a:solidFill>
                  <a:srgbClr val="707078"/>
                </a:solidFill>
                <a:effectLst/>
                <a:uFillTx/>
                <a:latin typeface="Arial"/>
                <a:ea typeface="Arial"/>
              </a:rPr>
              <a:t>≈ — ориентировочная цена в Steam, меняется на распродажах.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2160" y="9720"/>
            <a:ext cx="12190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90440" y="131400"/>
            <a:ext cx="11810520" cy="83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Целевая аудитория вашей игры</a:t>
            </a:r>
            <a:endParaRPr lang="ru-RU" sz="60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3" name="Google Shape;96;p3"/>
          <p:cNvSpPr/>
          <p:nvPr/>
        </p:nvSpPr>
        <p:spPr>
          <a:xfrm>
            <a:off x="540000" y="1061640"/>
            <a:ext cx="106520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MVEK создаётся в первую очередь для студентов и школьников, которым близок сеттинг колледжа МВЕК, </a:t>
            </a: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 для любителей рогаликов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Игра семейная (без крови и трэша), поэтому подходит широкой аудитории.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4" name="Google Shape;97;p3"/>
          <p:cNvGraphicFramePr/>
          <p:nvPr/>
        </p:nvGraphicFramePr>
        <p:xfrm>
          <a:off x="570240" y="1861920"/>
          <a:ext cx="11129400" cy="4350240"/>
        </p:xfrm>
        <a:graphic>
          <a:graphicData uri="http://schemas.openxmlformats.org/drawingml/2006/table">
            <a:tbl>
              <a:tblPr/>
              <a:tblGrid>
                <a:gridCol w="4525560"/>
                <a:gridCol w="2201040"/>
                <a:gridCol w="2201040"/>
                <a:gridCol w="2202120"/>
              </a:tblGrid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Критерий сегментации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ЦА1: Студенты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колледжей/ССУЗ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ЦА2: Школьники-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инди-геймеры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ЦА3: Взрослые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любители рогаликов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Демография (пол)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Любой (чуть больше М)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Любой (преим. М)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Любой (преим. М)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Демография (возраст)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15–20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13–17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20–30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Психотипы (по Бартлу)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Achievers, Killers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Explorers, Achievers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Achievers, Killers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Принятие инноваций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Раннее большинство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Новаторы / ранние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Ранние последователи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Платёжеспособность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Низкая–средняя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Низкая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Средняя–высокая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77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Другое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Знают МВЕК, мемы, узнаваемость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Любят пиксель-арт, инди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Ностальгия по Isaac/Gungeon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216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2160" y="360"/>
            <a:ext cx="12190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-1828800"/>
            <a:ext cx="914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2500" lnSpcReduction="19999"/>
          </a:bodyPr>
          <a:p>
            <a:pPr indent="0" algn="ctr">
              <a:buNone/>
            </a:pP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3;p4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4;p4"/>
          <p:cNvSpPr/>
          <p:nvPr/>
        </p:nvSpPr>
        <p:spPr>
          <a:xfrm>
            <a:off x="640080" y="1554480"/>
            <a:ext cx="10972440" cy="31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4040" indent="-28404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Идея.  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«The Binding of Isaac», но про реальный колледж МВЕК. Вместо крови и демонов — учёба: </a:t>
            </a: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доклады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вместо слёз, </a:t>
            </a: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рубли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вместо монет, шкала </a:t>
            </a: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«Любовь и одобрение»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вместо сердец, а боссы — тьюторы, преподаватели и Директор.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УТП.  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«Рогалик про твой колледж» — узнаваемый сеттинг МВЕК, семейный стиль без крови, сделан студентами на чистом Python без платных движков.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Конкурентные преимущества: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Локальный узнаваемый сеттинг и юмор колледжа МВЕК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Семейный стиль: ни крови, ни трэша — шире целевая аудитория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9 играбельных персонажей, 55 предметов в 4 тирах редкости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5 этажей, 4 этажных босса, 10 мини-боссов и финальный Директор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Собственный пиксель-арт и единая палитра; разумная цена + защита через Steam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9" name="TextBox 104"/>
          <p:cNvSpPr/>
          <p:nvPr/>
        </p:nvSpPr>
        <p:spPr>
          <a:xfrm>
            <a:off x="640080" y="320040"/>
            <a:ext cx="1097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Формулирование УТП и идеи игры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2160" y="360"/>
            <a:ext cx="12190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75160" y="321480"/>
            <a:ext cx="105152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Продуктовая матрица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82" name="Google Shape;110;p5"/>
          <p:cNvGraphicFramePr/>
          <p:nvPr/>
        </p:nvGraphicFramePr>
        <p:xfrm>
          <a:off x="877680" y="1499400"/>
          <a:ext cx="10297080" cy="4031640"/>
        </p:xfrm>
        <a:graphic>
          <a:graphicData uri="http://schemas.openxmlformats.org/drawingml/2006/table">
            <a:tbl>
              <a:tblPr/>
              <a:tblGrid>
                <a:gridCol w="2304000"/>
                <a:gridCol w="7993440"/>
              </a:tblGrid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Вид товара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Описание, обоснование выбора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8602d"/>
                    </a:solidFill>
                  </a:tcPr>
                </a:tc>
              </a:tr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Лид-магнит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Бесплатная демо-версия (первые уровни) — попробовать геймплей без риска, формирует доверие и интерес к покупке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Трипваер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Скидка на первую покупку или бандл «игра + саундтрек» — снижает барьер первой покупки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0335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Main offer (основной продукт)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Полная версия игры: все персонажи, уровни и предметы — ключевой продукт, ради которого приходят игроки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Максимизатор прибыли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DLC: новые персонажи, скины, саундтреки, эксклюзивные предметы — растит средний чек и LTV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Премиум продукт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Коллекционное издание: физкопия, артбук, постер, доступ к бета-тестам — для самых преданных фанатов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99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Тропинка возврата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Регулярные обновления, сезонные ивенты, новые уровни, конкурсы с призами — удерживают сообщество</a:t>
                      </a:r>
                      <a:endParaRPr lang="ru-RU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3" name="TextBox 110"/>
          <p:cNvSpPr/>
          <p:nvPr/>
        </p:nvSpPr>
        <p:spPr>
          <a:xfrm>
            <a:off x="877680" y="4937760"/>
            <a:ext cx="1005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Бизнес-модель: </a:t>
            </a: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платная разово (как The Binding of Isaac). Привязка к Steam защищает контент мастерской от пиратства.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-1828800"/>
            <a:ext cx="914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2500" lnSpcReduction="19999"/>
          </a:bodyPr>
          <a:p>
            <a:pPr indent="0" algn="ctr">
              <a:buNone/>
            </a:pP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6;p6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16"/>
          <p:cNvSpPr/>
          <p:nvPr/>
        </p:nvSpPr>
        <p:spPr>
          <a:xfrm>
            <a:off x="640080" y="320040"/>
            <a:ext cx="1097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Финансовая бизнес-модель игры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7" name="TextBox 117"/>
          <p:cNvSpPr/>
          <p:nvPr/>
        </p:nvSpPr>
        <p:spPr>
          <a:xfrm>
            <a:off x="640080" y="1508760"/>
            <a:ext cx="5668200" cy="28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Модель монетизации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Платная разово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— как The Binding of Isaac, с платными обновлениями (DLC) в перспективе.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Запуск через краудфандинг. 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Стартовые средства собираем на краудфандинговых и стартап-площадках; при наборе $100 публикуем игру в Steam через Steam Direct.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Защита от пиратства через Steam. 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Контент мастерской (Steam Workshop) скачивается только с официальной копией игры.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Площадки: 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Steam (через Steam Direct) и itch.io. Комиссия площадок ≈ 30%.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Окупаемость: </a:t>
            </a: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проект выходит в плюс примерно за 5 месяцев.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8" name="Rounded Rectangle 118"/>
          <p:cNvSpPr/>
          <p:nvPr/>
        </p:nvSpPr>
        <p:spPr>
          <a:xfrm>
            <a:off x="6660000" y="1508760"/>
            <a:ext cx="4860720" cy="4936320"/>
          </a:xfrm>
          <a:prstGeom prst="roundRect">
            <a:avLst>
              <a:gd name="adj" fmla="val 3543"/>
            </a:avLst>
          </a:prstGeom>
          <a:solidFill>
            <a:srgbClr val="181620"/>
          </a:solidFill>
          <a:ln w="19050">
            <a:solidFill>
              <a:srgbClr val="f0c8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9"/>
          <p:cNvSpPr/>
          <p:nvPr/>
        </p:nvSpPr>
        <p:spPr>
          <a:xfrm>
            <a:off x="6905880" y="1783080"/>
            <a:ext cx="4433760" cy="25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ru-RU" sz="15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Ключевые цифры (1-й год)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Стартовые инвестиции: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554 200 ₽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Цена игры: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400 → 650 ₽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Продано за год: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2 140 копий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Выручка за год: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1 291 200 ₽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Текущие расходы/год: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259 200 ₽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Себестоимость копии: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≈ 380 ₽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Срок окупаемости:  </a:t>
            </a:r>
            <a:r>
              <a:rPr lang="ru-RU" sz="13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≈ 5 мес. (0,43 года)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-1828800"/>
            <a:ext cx="914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2500" lnSpcReduction="19999"/>
          </a:bodyPr>
          <a:p>
            <a:pPr indent="0" algn="ctr">
              <a:buNone/>
            </a:pP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6;p 2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640080" y="320040"/>
            <a:ext cx="1097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Финансовая бизнес-модель игры (Таблицы)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905880" y="1783080"/>
            <a:ext cx="4433760" cy="25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900000" y="2160000"/>
            <a:ext cx="10070280" cy="23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Создание ГДД</a:t>
            </a:r>
            <a:endParaRPr lang="ru-RU" sz="4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6" name="Google Shape;122;p7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40080" y="1451880"/>
            <a:ext cx="10972440" cy="50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94200" indent="0">
              <a:lnSpc>
                <a:spcPct val="90000"/>
              </a:lnSpc>
              <a:spcBef>
                <a:spcPts val="1417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Название: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MVEK (МВЕК)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Жанр: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Top-down twin-stick рогалик (roguelite), 2D пиксель-арт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Концепция: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Студент проходит 5 этажей корпуса, отбиваясь докладами от тьюторов и преподавателей, собирает предметы и спускается к Директору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Для кого: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Студенты и школьники 14–22, фанаты рогаликов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Актуальность: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Жанр рогаликов на пике (Hades, Isaac) + узнаваемый локальный сеттинг колледжа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Референс: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Binding of Isaac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Игровой процесс: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WASD — движение, стрелки — стрельба (twin-stick). Комнаты-граф, предметы меняют статы; бомбы, ключи, рубли, магазины, секретные комнаты. Прогрессия — через билд предметов и разблокировку персонажей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Задача: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Собрать сильный билд и пройти все 5 этажей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Условия победы: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Пройден последний этаж — получен диплом (состояние WIN)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Условия поражения: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Шкала «Любовь и одобрение» = 0 → отчисление (GAME_OVER)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Камера: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Вид сверху (top-down), фиксированная по комнате; окно 960×720, 60 FPS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Контент: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9 персонажей · 55 предметов (4 тира) · 5 этажей · 4 этажных босса · 10 мини-боссов · Директор (2 фазы)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marL="457200" indent="0">
              <a:lnSpc>
                <a:spcPct val="90000"/>
              </a:lnSpc>
              <a:spcBef>
                <a:spcPts val="10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Гипотезы: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Узнаваемый сеттинг ↑ вовлечение; семейный стиль расширяет ЦА; реиграбельность за счёт предметов и персонажей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76215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Техническое задание дизайнеру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9" name="TextBox 128"/>
          <p:cNvSpPr/>
          <p:nvPr/>
        </p:nvSpPr>
        <p:spPr>
          <a:xfrm>
            <a:off x="640080" y="1856880"/>
            <a:ext cx="10972440" cy="24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Стиль. 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Пиксель-арт с тёмной контурной обводкой, читаемый силуэт, ретро game-UI. Строго семейно: ни крови, ни демонов, ни неуместных шуток.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Палитра. 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Тёплая фиолетово-коричневая основа + акценты: игрок — голубой #5AC8FF, бумага — кремовая #FAF0B4, валюта/легендарки — золото #F0C850, угроза — красно-розовая #FF6464.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Шрифты. 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Pixelify Sans (заголовки), JetBrains Mono (тех-текст), Handjet (крупный дисплей) — все с кириллицей.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Иконки предметов. 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28×28 px, прозрачный фон, один предмет по центру, без сглаживания. 4 тира редкости с аурами: серая → зелёная → фиолетовая → золотая.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Что нарисовать.  </a:t>
            </a:r>
            <a:r>
              <a:rPr lang="ru-RU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Персонажи (студент, тьютор, преподаватель, Директор), снаряды (доклад/критика/билет), тайлы пола/стен/дверей, HUD (сердца «Любовь и одобрение», рубли, ключи, бомбы, активный слот, миникарта).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15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Полное ТЗ — в DESIGN_DOC.md проекта (единый источник правды по стилю).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40080" y="201240"/>
            <a:ext cx="109724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0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Отрисовка героя и интерфейса игры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1" name="Google Shape;134;p9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35"/>
          <p:cNvSpPr/>
          <p:nvPr/>
        </p:nvSpPr>
        <p:spPr>
          <a:xfrm>
            <a:off x="548640" y="1371600"/>
            <a:ext cx="5485320" cy="3656160"/>
          </a:xfrm>
          <a:prstGeom prst="roundRect">
            <a:avLst>
              <a:gd name="adj" fmla="val 16667"/>
            </a:avLst>
          </a:prstGeom>
          <a:solidFill>
            <a:srgbClr val="181620"/>
          </a:solidFill>
          <a:ln w="19050">
            <a:solidFill>
              <a:srgbClr val="f0c8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2"/>
          <p:cNvSpPr/>
          <p:nvPr/>
        </p:nvSpPr>
        <p:spPr>
          <a:xfrm>
            <a:off x="548640" y="4617720"/>
            <a:ext cx="5485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Эскизы героев (пиксель-арт)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4" name="Rounded Rectangle 143"/>
          <p:cNvSpPr/>
          <p:nvPr/>
        </p:nvSpPr>
        <p:spPr>
          <a:xfrm>
            <a:off x="6264000" y="1371600"/>
            <a:ext cx="5485320" cy="3656160"/>
          </a:xfrm>
          <a:prstGeom prst="roundRect">
            <a:avLst>
              <a:gd name="adj" fmla="val 16667"/>
            </a:avLst>
          </a:prstGeom>
          <a:solidFill>
            <a:srgbClr val="181620"/>
          </a:solidFill>
          <a:ln w="19050">
            <a:solidFill>
              <a:srgbClr val="f0c8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44" descr="sh_shot_play2.png"/>
          <p:cNvPicPr/>
          <p:nvPr/>
        </p:nvPicPr>
        <p:blipFill>
          <a:blip r:embed="rId1"/>
          <a:stretch/>
        </p:blipFill>
        <p:spPr>
          <a:xfrm>
            <a:off x="6401160" y="1507680"/>
            <a:ext cx="5211000" cy="29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45"/>
          <p:cNvSpPr/>
          <p:nvPr/>
        </p:nvSpPr>
        <p:spPr>
          <a:xfrm>
            <a:off x="6264000" y="4617720"/>
            <a:ext cx="5485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Интерфейс игры (HUD + комната)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07" name=""/>
          <p:cNvPicPr/>
          <p:nvPr/>
        </p:nvPicPr>
        <p:blipFill>
          <a:blip r:embed="rId2"/>
          <a:stretch/>
        </p:blipFill>
        <p:spPr>
          <a:xfrm>
            <a:off x="1080000" y="2018880"/>
            <a:ext cx="4319640" cy="194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440" cy="9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0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Готовый персонаж</a:t>
            </a:r>
            <a:r>
              <a:rPr lang="ru-RU" sz="4000" b="1" u="none" strike="noStrike">
                <a:solidFill>
                  <a:srgbClr val="e8602d"/>
                </a:solidFill>
                <a:effectLst/>
                <a:uFillTx/>
                <a:latin typeface="Angry"/>
                <a:ea typeface="Arial"/>
              </a:rPr>
              <a:t> </a:t>
            </a: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(с описанием)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9" name="Rounded Rectangle 140"/>
          <p:cNvSpPr/>
          <p:nvPr/>
        </p:nvSpPr>
        <p:spPr>
          <a:xfrm>
            <a:off x="640080" y="1234440"/>
            <a:ext cx="4205160" cy="5119200"/>
          </a:xfrm>
          <a:prstGeom prst="roundRect">
            <a:avLst>
              <a:gd name="adj" fmla="val 16667"/>
            </a:avLst>
          </a:prstGeom>
          <a:solidFill>
            <a:srgbClr val="181620"/>
          </a:solidFill>
          <a:ln w="19050">
            <a:solidFill>
              <a:srgbClr val="f0c8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141" descr="ch_platon.png"/>
          <p:cNvPicPr/>
          <p:nvPr/>
        </p:nvPicPr>
        <p:blipFill>
          <a:blip r:embed="rId1"/>
          <a:stretch/>
        </p:blipFill>
        <p:spPr>
          <a:xfrm>
            <a:off x="1566000" y="1417320"/>
            <a:ext cx="2353320" cy="393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142"/>
          <p:cNvSpPr/>
          <p:nvPr/>
        </p:nvSpPr>
        <p:spPr>
          <a:xfrm>
            <a:off x="640080" y="5577840"/>
            <a:ext cx="420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0c850"/>
                </a:solidFill>
                <a:effectLst/>
                <a:uFillTx/>
                <a:latin typeface="Arial"/>
                <a:ea typeface="Arial"/>
              </a:rPr>
              <a:t>ПЛАТОН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2" name="TextBox 143"/>
          <p:cNvSpPr/>
          <p:nvPr/>
        </p:nvSpPr>
        <p:spPr>
          <a:xfrm>
            <a:off x="5121000" y="1371600"/>
            <a:ext cx="6582960" cy="28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Платон — стартовый герой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Задрот-первокурсник: худшие статы, слабый и хилый. Самый сложный и «честный» старт — учит играть.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Характеристики: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Любовь (HP): 4      Скорость: 2.6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Урон: 0.8      Скорострельность: 2.0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Удача: 0      Стартовые предметы: нет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Всего в игре 9 персонажей: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Платон, Кирилл, Наташа, Никита 1, Никита 2, Аня, Злата, Влад + секретный Cursed-герой (открывается за 3 победы Платоном).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4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0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Мокап интерфейса — локация во время игры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14" name="Picture 146" descr="sh_shot_play3.png"/>
          <p:cNvPicPr/>
          <p:nvPr/>
        </p:nvPicPr>
        <p:blipFill>
          <a:blip r:embed="rId1"/>
          <a:stretch/>
        </p:blipFill>
        <p:spPr>
          <a:xfrm>
            <a:off x="1080000" y="966240"/>
            <a:ext cx="4128480" cy="23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/>
          <p:cNvPicPr/>
          <p:nvPr/>
        </p:nvPicPr>
        <p:blipFill>
          <a:blip r:embed="rId2"/>
          <a:stretch/>
        </p:blipFill>
        <p:spPr>
          <a:xfrm>
            <a:off x="1080000" y="3335760"/>
            <a:ext cx="9899640" cy="332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/>
          <p:cNvPicPr/>
          <p:nvPr/>
        </p:nvPicPr>
        <p:blipFill>
          <a:blip r:embed="rId3"/>
          <a:stretch/>
        </p:blipFill>
        <p:spPr>
          <a:xfrm>
            <a:off x="6300000" y="979560"/>
            <a:ext cx="4679640" cy="226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-1828800"/>
            <a:ext cx="10515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51;p12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1"/>
          <p:cNvSpPr/>
          <p:nvPr/>
        </p:nvSpPr>
        <p:spPr>
          <a:xfrm>
            <a:off x="640080" y="320040"/>
            <a:ext cx="109724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Макет сайта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0" name="TextBox 152"/>
          <p:cNvSpPr/>
          <p:nvPr/>
        </p:nvSpPr>
        <p:spPr>
          <a:xfrm>
            <a:off x="824400" y="5040000"/>
            <a:ext cx="10515240" cy="12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Сайт игры свёрстан (HTML / CSS / JS), 8 страниц: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Главная · Об игре · Геймплей · Команда · Скачать · Связь · Devlog · Каталог предметов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Макет в Figma:  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figma.com/design/B6KmjXeTVUIfYff4AJV5nh/Игра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https://www.figma.com/design/byHCPbd8IpWI3UhZdcZ8mD/MVEK-rogaulek-Maket?node-id=0-1&amp;p=f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668880" y="1620000"/>
            <a:ext cx="10850760" cy="25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33480" y="-1828800"/>
            <a:ext cx="10515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7;p13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57"/>
          <p:cNvSpPr/>
          <p:nvPr/>
        </p:nvSpPr>
        <p:spPr>
          <a:xfrm>
            <a:off x="640080" y="320040"/>
            <a:ext cx="109724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Вёрстка сайта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5" name="TextBox 158"/>
          <p:cNvSpPr/>
          <p:nvPr/>
        </p:nvSpPr>
        <p:spPr>
          <a:xfrm>
            <a:off x="822960" y="5409720"/>
            <a:ext cx="10515240" cy="10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ru-RU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Готовая вёрстка опубликована и доступна онлайн: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Сайт игры:  </a:t>
            </a: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https://hatezany.ru/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 страниц: главная, об игре, геймплей, команда, скачать, связь, devlog, каталог предметов. Сверстано вручную на HTML / CSS / JS.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720000" y="1174320"/>
            <a:ext cx="7559640" cy="386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Постер и иконка игры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900000" y="1440000"/>
            <a:ext cx="3433320" cy="48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/>
          <p:cNvPicPr/>
          <p:nvPr/>
        </p:nvPicPr>
        <p:blipFill>
          <a:blip r:embed="rId2"/>
          <a:stretch/>
        </p:blipFill>
        <p:spPr>
          <a:xfrm>
            <a:off x="4500000" y="1463760"/>
            <a:ext cx="3395880" cy="339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30720" y="360000"/>
            <a:ext cx="105152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Выбор каналов продвижения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Google Shape;168;p15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9;p15"/>
          <p:cNvSpPr/>
          <p:nvPr/>
        </p:nvSpPr>
        <p:spPr>
          <a:xfrm>
            <a:off x="671760" y="1684800"/>
            <a:ext cx="10487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-RU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Каналы подобраны под ЦА (молодёжь РФ, фанаты инди и рогаликов):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33" name="Google Shape;170;p15"/>
          <p:cNvGraphicFramePr/>
          <p:nvPr/>
        </p:nvGraphicFramePr>
        <p:xfrm>
          <a:off x="662760" y="2319120"/>
          <a:ext cx="10866240" cy="3706920"/>
        </p:xfrm>
        <a:graphic>
          <a:graphicData uri="http://schemas.openxmlformats.org/drawingml/2006/table">
            <a:tbl>
              <a:tblPr/>
              <a:tblGrid>
                <a:gridCol w="3621960"/>
                <a:gridCol w="3621960"/>
                <a:gridCol w="3622680"/>
              </a:tblGrid>
              <a:tr h="9576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Канал продвижения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Ориент. стоимость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8602d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Обоснование выбора</a:t>
                      </a:r>
                      <a:endParaRPr lang="ru-RU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8602d"/>
                    </a:solidFill>
                  </a:tcPr>
                </a:tc>
              </a:tr>
              <a:tr h="5590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Соцсети (VK, Telegram, YouTube, TikTok)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10 000–50 000 ₽/мес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Молодёжь активна в соцсетях: таргет, короткие видео с геймплеем, стримы, челленджи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475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Баннерная реклама (игровые порталы, форумы)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20 000–60 000 ₽/мес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Размещение на DTF, Habr, игровых форумах — привлекает интересующуюся аудиторию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5475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Контекстная реклама (Яндекс.Директ, Google Ads)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15 000–40 000 ₽/мес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Быстрый приток целевых игроков по запросам «рогалик», «инди-игры», «студенческие игры»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475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1" u="none" strike="noStrike">
                          <a:solidFill>
                            <a:srgbClr val="281e1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Оффлайн (мероприятия и постеры в вузах)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30 000–80 000 ₽/разово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50" b="0" u="none" strike="noStrike">
                          <a:solidFill>
                            <a:srgbClr val="10101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Прямой контакт со студентами — узнаваемость и вовлечённость</a:t>
                      </a:r>
                      <a:endParaRPr lang="ru-RU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5475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18000" marB="18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68680" y="-1828800"/>
            <a:ext cx="105152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76;p16"/>
          <p:cNvSpPr/>
          <p:nvPr/>
        </p:nvSpPr>
        <p:spPr>
          <a:xfrm>
            <a:off x="439920" y="5753160"/>
            <a:ext cx="11372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77;p16"/>
          <p:cNvSpPr/>
          <p:nvPr/>
        </p:nvSpPr>
        <p:spPr>
          <a:xfrm>
            <a:off x="822960" y="1463040"/>
            <a:ext cx="10515240" cy="261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4040" indent="-28404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Рекламный слоган (варианты):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«MVEK — сдай сессию... докладами!»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«Твой колледж. Твой рогалик.»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«От вестибюля до Директора — пройди МВЕК.»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Рекламное сообщение (пост для ВК/Telegram):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«Погрузись в уникальный мир </a:t>
            </a: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МВЕК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где ты не просто студент — ты борец за выживание в лабиринтах колледжа! Пиксельный рогалик-экшен: 9 героев, 55 предметов, 5 этажей и Директор в финале. Отбивайся докладами, собирай уникальный билд и получи диплом. Каждый забег неповторим — испытай удачу и реакцию!»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r>
              <a:rPr lang="ru-RU" sz="13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Призыв к действию: добавляй в желаемое в Steam и следи за выходом!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7" name="TextBox 177"/>
          <p:cNvSpPr/>
          <p:nvPr/>
        </p:nvSpPr>
        <p:spPr>
          <a:xfrm>
            <a:off x="640080" y="320040"/>
            <a:ext cx="1097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400" b="1" u="none" strike="noStrike">
                <a:solidFill>
                  <a:srgbClr val="ffffff"/>
                </a:solidFill>
                <a:effectLst/>
                <a:uFillTx/>
                <a:latin typeface="Angry"/>
                <a:ea typeface="Arial"/>
              </a:rPr>
              <a:t>Реклама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2026-06-11T00:55:26Z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